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</p:sldIdLst>
  <p:sldSz cx="14630400" cy="8229600"/>
  <p:notesSz cx="8229600" cy="14630400"/>
  <p:embeddedFontLst>
    <p:embeddedFont>
      <p:font typeface="Algerian" panose="04020705040A02060702" pitchFamily="82" charset="0"/>
      <p:regular r:id="rId15"/>
    </p:embeddedFont>
    <p:embeddedFont>
      <p:font typeface="Berlin Sans FB Demi" panose="020E0802020502020306" pitchFamily="34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47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lgerian" panose="04020705040A02060702" pitchFamily="82" charset="0"/>
                <a:ea typeface="Unbounded" pitchFamily="34" charset="-122"/>
                <a:cs typeface="Unbounded" pitchFamily="34" charset="-120"/>
              </a:rPr>
              <a:t>Motor Vehicle Theft Analysis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Algerian" panose="04020705040A02060702" pitchFamily="82" charset="0"/>
                <a:ea typeface="Cabin" pitchFamily="34" charset="-122"/>
                <a:cs typeface="Cabin" pitchFamily="34" charset="-120"/>
              </a:rPr>
              <a:t>Pranali Patil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Algerian" panose="04020705040A02060702" pitchFamily="82" charset="0"/>
                <a:ea typeface="Cabin" pitchFamily="34" charset="-122"/>
                <a:cs typeface="Cabin" pitchFamily="34" charset="-120"/>
              </a:rPr>
              <a:t>FROM: </a:t>
            </a:r>
            <a:r>
              <a:rPr lang="en-US" sz="1850" dirty="0">
                <a:solidFill>
                  <a:srgbClr val="CAD6DE"/>
                </a:solidFill>
                <a:latin typeface="Algerian" panose="04020705040A02060702" pitchFamily="82" charset="0"/>
                <a:ea typeface="Cabin" pitchFamily="34" charset="-122"/>
                <a:cs typeface="Cabin" pitchFamily="34" charset="-120"/>
              </a:rPr>
              <a:t>IT Vedant</a:t>
            </a:r>
            <a:endParaRPr lang="en-US" sz="1850" dirty="0"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55FD5-D046-B85F-2440-FA90BF7DB2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456103" y="0"/>
            <a:ext cx="617429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523" y="926306"/>
            <a:ext cx="11418213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Understanding Vehicle Theft Patterns</a:t>
            </a:r>
            <a:endParaRPr lang="en-US" sz="40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523" y="2102406"/>
            <a:ext cx="3092529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Project Overview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6523" y="2699861"/>
            <a:ext cx="7659529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This comprehensive analysis examines motor vehicle theft patterns using advanced data analytics techniques. By analyzing thousands of theft records across multiple dimensions, we uncover critical insights into vehicle crime trends.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6523" y="3953589"/>
            <a:ext cx="324052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Why This Matters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6523" y="4551045"/>
            <a:ext cx="7659529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Crime Prevention:</a:t>
            </a: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Identify high-risk vehicles and locations to deploy resources effectively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523" y="5318403"/>
            <a:ext cx="7659529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Insurance Intelligence:</a:t>
            </a: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Enable accurate risk assessment and premium calculations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523" y="6085761"/>
            <a:ext cx="7659529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Policy Development:</a:t>
            </a: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Inform law enforcement strategies and legislative decisions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523" y="6853118"/>
            <a:ext cx="765952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Public Awareness:</a:t>
            </a: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Help vehicle owners make informed security decisions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105FF8-2883-0934-78B8-D976A9DCB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5511" y="4429576"/>
            <a:ext cx="5274527" cy="3669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331AE7-6D0B-5EC3-1747-5C66F7C1D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712" y="377087"/>
            <a:ext cx="4817326" cy="3831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6514" y="632698"/>
            <a:ext cx="6350079" cy="57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Database Architecture</a:t>
            </a:r>
            <a:endParaRPr lang="en-US" sz="3600" dirty="0">
              <a:latin typeface="Berlin Sans FB Demi" panose="020E0802020502020306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86514" y="1503878"/>
            <a:ext cx="3787378" cy="2524244"/>
          </a:xfrm>
          <a:prstGeom prst="roundRect">
            <a:avLst>
              <a:gd name="adj" fmla="val 1166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882610" y="1699974"/>
            <a:ext cx="588407" cy="588407"/>
          </a:xfrm>
          <a:prstGeom prst="roundRect">
            <a:avLst>
              <a:gd name="adj" fmla="val 15538710"/>
            </a:avLst>
          </a:prstGeom>
          <a:solidFill>
            <a:srgbClr val="0A988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16" y="1828681"/>
            <a:ext cx="264795" cy="330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610" y="2484477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Stolen Vehicles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82610" y="2692400"/>
            <a:ext cx="3395186" cy="98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Core table containing vehicle identifiers, theft dates, types, colors, and model years with foreign key relationships</a:t>
            </a:r>
            <a:endParaRPr lang="en-US" sz="1500" dirty="0">
              <a:latin typeface="Berlin Sans FB Demi" panose="020E0802020502020306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69988" y="1503878"/>
            <a:ext cx="3787497" cy="2524244"/>
          </a:xfrm>
          <a:prstGeom prst="roundRect">
            <a:avLst>
              <a:gd name="adj" fmla="val 1166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4866084" y="1699974"/>
            <a:ext cx="588407" cy="588407"/>
          </a:xfrm>
          <a:prstGeom prst="roundRect">
            <a:avLst>
              <a:gd name="adj" fmla="val 15538710"/>
            </a:avLst>
          </a:prstGeom>
          <a:solidFill>
            <a:srgbClr val="0A988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890" y="1828681"/>
            <a:ext cx="264795" cy="3309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66084" y="2484477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Locations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866084" y="2890480"/>
            <a:ext cx="3395305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Geographic data including regions, population demographics, and density metrics for spatial analysis</a:t>
            </a:r>
            <a:endParaRPr lang="en-US" sz="1500" dirty="0">
              <a:latin typeface="Berlin Sans FB Demi" panose="020E0802020502020306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86514" y="4224218"/>
            <a:ext cx="7770971" cy="2210395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882610" y="4420314"/>
            <a:ext cx="588407" cy="588407"/>
          </a:xfrm>
          <a:prstGeom prst="roundRect">
            <a:avLst>
              <a:gd name="adj" fmla="val 15538710"/>
            </a:avLst>
          </a:prstGeom>
          <a:solidFill>
            <a:srgbClr val="0A988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16" y="4549021"/>
            <a:ext cx="264795" cy="3309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2610" y="5204817"/>
            <a:ext cx="230778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Make Details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82610" y="5610820"/>
            <a:ext cx="7378779" cy="62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Manufacturer information categorizing vehicles by make name, classification, and luxury versus standard designation</a:t>
            </a:r>
            <a:endParaRPr lang="en-US" sz="1500" dirty="0">
              <a:latin typeface="Berlin Sans FB Demi" panose="020E0802020502020306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86514" y="6655237"/>
            <a:ext cx="7770971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The relational database connects </a:t>
            </a:r>
            <a:r>
              <a:rPr lang="en-US" sz="15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stolen_vehicles</a:t>
            </a: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to </a:t>
            </a:r>
            <a:r>
              <a:rPr lang="en-US" sz="15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locations</a:t>
            </a: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via location_id and to </a:t>
            </a:r>
            <a:r>
              <a:rPr lang="en-US" sz="15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make_details</a:t>
            </a: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via make_id, enabling comprehensive multi-dimensional analysis across geographic, temporal, and vehicle characteristic dimensions.</a:t>
            </a:r>
            <a:endParaRPr lang="en-US" sz="1500" dirty="0">
              <a:latin typeface="Berlin Sans FB Demi" panose="020E0802020502020306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932D52C-EE58-2B4E-EF27-D926F7A3B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290" y="0"/>
            <a:ext cx="601110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340" y="488990"/>
            <a:ext cx="5116473" cy="522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Research Objectives</a:t>
            </a:r>
            <a:endParaRPr lang="en-US" sz="3250" dirty="0">
              <a:latin typeface="Berlin Sans FB Demi" panose="020E0802020502020306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2340" y="1278612"/>
            <a:ext cx="17776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2340" y="1557933"/>
            <a:ext cx="789932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622340" y="1692473"/>
            <a:ext cx="3454956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Vehicle Profile Identification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340" y="2060615"/>
            <a:ext cx="78993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Determine which vehicle types, makes, model years, and colors are most frequently targeted by thieves to establish high-risk profiles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2340" y="2940844"/>
            <a:ext cx="17776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2340" y="3220164"/>
            <a:ext cx="789932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622340" y="3354705"/>
            <a:ext cx="401859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Geographic Pattern Recognition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2340" y="3722846"/>
            <a:ext cx="78993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Map regional theft concentrations and identify hotspots where vehicle crime rates significantly exceed national averages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2340" y="4603075"/>
            <a:ext cx="17776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2340" y="4882396"/>
            <a:ext cx="789932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622340" y="5016937"/>
            <a:ext cx="370605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Market Segment Comparison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2340" y="5385078"/>
            <a:ext cx="78993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Compare theft rates between luxury and standard vehicles to understand targeting preferences and economic motivations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2340" y="6265307"/>
            <a:ext cx="177760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2340" y="6544628"/>
            <a:ext cx="7899321" cy="2286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8" name="Text 15"/>
          <p:cNvSpPr/>
          <p:nvPr/>
        </p:nvSpPr>
        <p:spPr>
          <a:xfrm>
            <a:off x="622340" y="6679168"/>
            <a:ext cx="3017758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Temporal Trend Analysis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2340" y="7047309"/>
            <a:ext cx="78993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Examine theft patterns over time to identify seasonal variations, emerging trends, and shifts in criminal behavior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7B84FA-BF8A-570B-722B-1C27DCAC7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0" y="7484745"/>
            <a:ext cx="200025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6763" y="778669"/>
            <a:ext cx="5740241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Total Theft Volume</a:t>
            </a:r>
            <a:endParaRPr lang="en-US" sz="4050" dirty="0">
              <a:latin typeface="Berlin Sans FB Demi" panose="020E0802020502020306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6763" y="1970723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Analysis Query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6763" y="2576393"/>
            <a:ext cx="31307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We begin with a fundamental metric to establish the scope of the vehicle theft problem: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6763" y="3874413"/>
            <a:ext cx="3130748" cy="1380173"/>
          </a:xfrm>
          <a:prstGeom prst="roundRect">
            <a:avLst>
              <a:gd name="adj" fmla="val 2381"/>
            </a:avLst>
          </a:prstGeom>
          <a:solidFill>
            <a:srgbClr val="1E3543"/>
          </a:solidFill>
          <a:ln/>
        </p:spPr>
      </p:sp>
      <p:sp>
        <p:nvSpPr>
          <p:cNvPr id="7" name="Shape 4"/>
          <p:cNvSpPr/>
          <p:nvPr/>
        </p:nvSpPr>
        <p:spPr>
          <a:xfrm>
            <a:off x="755808" y="3874413"/>
            <a:ext cx="3503957" cy="1380173"/>
          </a:xfrm>
          <a:prstGeom prst="roundRect">
            <a:avLst>
              <a:gd name="adj" fmla="val 2381"/>
            </a:avLst>
          </a:prstGeom>
          <a:solidFill>
            <a:srgbClr val="1E3543"/>
          </a:solidFill>
          <a:ln/>
        </p:spPr>
      </p:sp>
      <p:sp>
        <p:nvSpPr>
          <p:cNvPr id="8" name="Text 5"/>
          <p:cNvSpPr/>
          <p:nvPr/>
        </p:nvSpPr>
        <p:spPr>
          <a:xfrm>
            <a:off x="974883" y="4038719"/>
            <a:ext cx="313074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COUNT(vehicle_id)   AS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Total_vehicles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stolen_vehicles;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6763" y="5501045"/>
            <a:ext cx="313074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This aggregate count provides our baseline dataset size and reveals the magnitude of vehicle theft incidents recorded in the database.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439483" y="2107644"/>
            <a:ext cx="3945255" cy="722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endParaRPr lang="en-US" sz="5650" dirty="0">
              <a:latin typeface="Berlin Sans FB Demi" panose="020E0802020502020306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23378" y="3104436"/>
            <a:ext cx="257746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Vehicles Stolen</a:t>
            </a:r>
            <a:endParaRPr lang="en-US" sz="2000" dirty="0">
              <a:latin typeface="Berlin Sans FB Demi" panose="020E0802020502020306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39483" y="3645694"/>
            <a:ext cx="3945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Total number of motor vehicle theft incidents documented across all regions, timeframes, and vehicle categories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27620A-BD99-10B9-6474-5557D254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420" y="0"/>
            <a:ext cx="5660980" cy="822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CA2604-CC6F-C71E-941C-AB1F9BEEA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872" y="1545866"/>
            <a:ext cx="2577465" cy="1421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411253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Regional Theft Hotspots</a:t>
            </a:r>
            <a:endParaRPr lang="en-US" sz="22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8862" y="860465"/>
            <a:ext cx="3154323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Top 10 Regions by Theft Volume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2910" y="1250991"/>
            <a:ext cx="6333578" cy="2707692"/>
          </a:xfrm>
          <a:prstGeom prst="roundRect">
            <a:avLst>
              <a:gd name="adj" fmla="val 1352"/>
            </a:avLst>
          </a:prstGeom>
          <a:solidFill>
            <a:srgbClr val="1E3543"/>
          </a:solidFill>
          <a:ln/>
        </p:spPr>
      </p:sp>
      <p:sp>
        <p:nvSpPr>
          <p:cNvPr id="6" name="Text 4"/>
          <p:cNvSpPr/>
          <p:nvPr/>
        </p:nvSpPr>
        <p:spPr>
          <a:xfrm>
            <a:off x="532568" y="1427356"/>
            <a:ext cx="5990896" cy="106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region, COUNT(vehicle_id) AS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Total_Stolen_Vehicle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stolen_vehicles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sv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locations l 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sv.location_id =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l.location_id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region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Total_Stolen_Vehicle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2" y="4879551"/>
            <a:ext cx="12293529" cy="31716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5158" y="4285762"/>
            <a:ext cx="13792676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Key Finding:</a:t>
            </a: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Auckland dominates with over 3,200 thefts, representing 26% of all recorded incidents. The top three regions—Auckland, Canterbury, and Wellington—account for nearly 60% of total vehicle thefts, indicating significant geographic concentration in major metropolitan areas.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CA87A-0A0B-4896-FA78-4290CD940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590" y="892027"/>
            <a:ext cx="4004394" cy="3066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746EDE-F89A-77F1-E94A-3D2F3DA72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2560" y="7585755"/>
            <a:ext cx="1767840" cy="631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410039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Vehicle Type Distribution</a:t>
            </a:r>
            <a:endParaRPr lang="en-US" sz="22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8862" y="980123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Query Analysis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8862" y="1325761"/>
            <a:ext cx="6750368" cy="937379"/>
          </a:xfrm>
          <a:prstGeom prst="roundRect">
            <a:avLst>
              <a:gd name="adj" fmla="val 1580"/>
            </a:avLst>
          </a:prstGeom>
          <a:solidFill>
            <a:srgbClr val="1E3543"/>
          </a:solidFill>
          <a:ln/>
        </p:spPr>
      </p:sp>
      <p:sp>
        <p:nvSpPr>
          <p:cNvPr id="5" name="Shape 3"/>
          <p:cNvSpPr/>
          <p:nvPr/>
        </p:nvSpPr>
        <p:spPr>
          <a:xfrm>
            <a:off x="412909" y="1325761"/>
            <a:ext cx="6762274" cy="1844159"/>
          </a:xfrm>
          <a:prstGeom prst="roundRect">
            <a:avLst>
              <a:gd name="adj" fmla="val 1580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32567" y="1488361"/>
            <a:ext cx="652295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2000" dirty="0" err="1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vehicle_type</a:t>
            </a: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, COUNT(*) AS </a:t>
            </a:r>
            <a:r>
              <a:rPr lang="en-US" sz="2000" dirty="0" err="1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theft_count</a:t>
            </a: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2000" dirty="0" err="1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stolen_vehicles</a:t>
            </a: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2000" dirty="0" err="1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vehicle_type</a:t>
            </a: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ORDER BY theft_count DESC;</a:t>
            </a:r>
            <a:endParaRPr lang="en-US" sz="2000" dirty="0">
              <a:solidFill>
                <a:schemeClr val="tx2">
                  <a:lumMod val="40000"/>
                  <a:lumOff val="60000"/>
                </a:schemeClr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105" y="882652"/>
            <a:ext cx="5692094" cy="34607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8862" y="7060428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Insight:</a:t>
            </a: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Sedans are the most stolen vehicle type at 37% of all thefts, followed by station wagons at 23%. Two-wheeled vehicles (mopeds and motorcycles) collectively represent 22% of thefts, highlighting their vulnerability due to portability and lower security features.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8BA27FD5-B015-238F-8551-E99628A0726D}"/>
              </a:ext>
            </a:extLst>
          </p:cNvPr>
          <p:cNvSpPr/>
          <p:nvPr/>
        </p:nvSpPr>
        <p:spPr>
          <a:xfrm>
            <a:off x="399335" y="3918188"/>
            <a:ext cx="7373065" cy="3034823"/>
          </a:xfrm>
          <a:prstGeom prst="roundRect">
            <a:avLst>
              <a:gd name="adj" fmla="val 1580"/>
            </a:avLst>
          </a:prstGeom>
          <a:solidFill>
            <a:srgbClr val="1E3543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Berlin Sans FB Demi" panose="020E0802020502020306" pitchFamily="34" charset="0"/>
              </a:rPr>
              <a:t>OUTPUT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EE7F2CC-0DBF-917F-7AB4-141BE573C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63175"/>
              </p:ext>
            </p:extLst>
          </p:nvPr>
        </p:nvGraphicFramePr>
        <p:xfrm>
          <a:off x="532567" y="4393839"/>
          <a:ext cx="10284897" cy="2255361"/>
        </p:xfrm>
        <a:graphic>
          <a:graphicData uri="http://schemas.openxmlformats.org/drawingml/2006/table">
            <a:tbl>
              <a:tblPr/>
              <a:tblGrid>
                <a:gridCol w="1365971">
                  <a:extLst>
                    <a:ext uri="{9D8B030D-6E8A-4147-A177-3AD203B41FA5}">
                      <a16:colId xmlns:a16="http://schemas.microsoft.com/office/drawing/2014/main" val="1412742842"/>
                    </a:ext>
                  </a:extLst>
                </a:gridCol>
                <a:gridCol w="8918926">
                  <a:extLst>
                    <a:ext uri="{9D8B030D-6E8A-4147-A177-3AD203B41FA5}">
                      <a16:colId xmlns:a16="http://schemas.microsoft.com/office/drawing/2014/main" val="3787862767"/>
                    </a:ext>
                  </a:extLst>
                </a:gridCol>
              </a:tblGrid>
              <a:tr h="426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Vehicle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Theft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902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Car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5,320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9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Moped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3,850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09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Roadbike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2,410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9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Trailer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1,120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856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Truck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</a:rPr>
                        <a:t>640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34038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389F71C-786C-25BC-C142-F01FAB453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150" y="7515225"/>
            <a:ext cx="200025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9358" y="458033"/>
            <a:ext cx="6671786" cy="48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Most Targeted Vehicle Brand</a:t>
            </a:r>
            <a:endParaRPr lang="en-US" sz="3050" dirty="0">
              <a:latin typeface="Berlin Sans FB Demi" panose="020E0802020502020306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9358" y="1193006"/>
            <a:ext cx="3856315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Brand Vulnerability Analysis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9358" y="1733312"/>
            <a:ext cx="7985284" cy="1836896"/>
          </a:xfrm>
          <a:prstGeom prst="roundRect">
            <a:avLst>
              <a:gd name="adj" fmla="val 1352"/>
            </a:avLst>
          </a:prstGeom>
          <a:solidFill>
            <a:srgbClr val="1E3543"/>
          </a:solidFill>
          <a:ln/>
        </p:spPr>
      </p:sp>
      <p:sp>
        <p:nvSpPr>
          <p:cNvPr id="6" name="Shape 3"/>
          <p:cNvSpPr/>
          <p:nvPr/>
        </p:nvSpPr>
        <p:spPr>
          <a:xfrm>
            <a:off x="571143" y="1733312"/>
            <a:ext cx="8001714" cy="2049662"/>
          </a:xfrm>
          <a:prstGeom prst="roundRect">
            <a:avLst>
              <a:gd name="adj" fmla="val 1352"/>
            </a:avLst>
          </a:prstGeom>
          <a:solidFill>
            <a:srgbClr val="1E3543"/>
          </a:solidFill>
          <a:ln/>
        </p:spPr>
      </p:sp>
      <p:sp>
        <p:nvSpPr>
          <p:cNvPr id="7" name="Text 4"/>
          <p:cNvSpPr/>
          <p:nvPr/>
        </p:nvSpPr>
        <p:spPr>
          <a:xfrm>
            <a:off x="736640" y="1857375"/>
            <a:ext cx="7670721" cy="1588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m.make_name, COUNT(*) AS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theft_count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stolen_vehicles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v</a:t>
            </a: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make_details m </a:t>
            </a: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v.make_id =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m.make_id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m.make_name</a:t>
            </a:r>
            <a:endParaRPr lang="en-US" sz="16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theft_count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  <a:p>
            <a:pPr marL="0" indent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LIMIT 1;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143" y="4062611"/>
            <a:ext cx="7985284" cy="54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716</a:t>
            </a:r>
            <a:endParaRPr lang="en-US" sz="4300" dirty="0">
              <a:latin typeface="Berlin Sans FB Demi" panose="020E0802020502020306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98188" y="4592241"/>
            <a:ext cx="1947505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Toyota Theft</a:t>
            </a:r>
            <a:endParaRPr lang="en-US" sz="1500" dirty="0">
              <a:latin typeface="Berlin Sans FB Demi" panose="020E0802020502020306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9358" y="4935022"/>
            <a:ext cx="7985284" cy="26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Total Toyota vehicles stolen, representing the highest theft count among all manufacturers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9358" y="5551527"/>
            <a:ext cx="2549128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Why </a:t>
            </a:r>
            <a:r>
              <a:rPr lang="en-US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Toyota</a:t>
            </a:r>
            <a:r>
              <a:rPr lang="en-US" sz="18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 Leads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9358" y="6009084"/>
            <a:ext cx="3790712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High market presence:</a:t>
            </a:r>
            <a:r>
              <a:rPr lang="en-US" sz="13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Popular brand with large installed base increases opportunity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9358" y="6596539"/>
            <a:ext cx="3790712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Parts demand:</a:t>
            </a:r>
            <a:r>
              <a:rPr lang="en-US" sz="13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Strong aftermarket creates incentive for theft and resale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9358" y="7183993"/>
            <a:ext cx="3790712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Model consistency:</a:t>
            </a:r>
            <a:r>
              <a:rPr lang="en-US" sz="13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Interchangeable parts across model years facilitate chop shop operations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81550" y="5352585"/>
            <a:ext cx="2336959" cy="49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Implications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81550" y="6009084"/>
            <a:ext cx="37907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Toyota owners should invest in enhanced security measures including steering wheel locks, GPS tracking, and alarm systems. Law enforcement can focus surveillance on areas with high Honda concentrations.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3D081D-A45E-777D-0DDE-82C8380E0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534" y="1873657"/>
            <a:ext cx="3070827" cy="17572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29997C-08D7-118A-95BB-EB810537F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587" y="0"/>
            <a:ext cx="448481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572" y="449818"/>
            <a:ext cx="4992648" cy="481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Theft Rate Per Capita</a:t>
            </a:r>
            <a:endParaRPr lang="en-US" sz="30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572" y="1176337"/>
            <a:ext cx="5465921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Top 5 Regions Normalized by Population</a:t>
            </a:r>
            <a:endParaRPr lang="en-US" sz="1800" dirty="0">
              <a:latin typeface="Berlin Sans FB Demi" panose="020E0802020502020306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2572" y="1710452"/>
            <a:ext cx="13485257" cy="2338864"/>
          </a:xfrm>
          <a:prstGeom prst="roundRect">
            <a:avLst>
              <a:gd name="adj" fmla="val 1049"/>
            </a:avLst>
          </a:prstGeom>
          <a:solidFill>
            <a:srgbClr val="1E3543"/>
          </a:solidFill>
          <a:ln/>
        </p:spPr>
      </p:sp>
      <p:sp>
        <p:nvSpPr>
          <p:cNvPr id="5" name="Shape 3"/>
          <p:cNvSpPr/>
          <p:nvPr/>
        </p:nvSpPr>
        <p:spPr>
          <a:xfrm>
            <a:off x="564475" y="1710452"/>
            <a:ext cx="13501449" cy="2338864"/>
          </a:xfrm>
          <a:prstGeom prst="roundRect">
            <a:avLst>
              <a:gd name="adj" fmla="val 1049"/>
            </a:avLst>
          </a:prstGeom>
          <a:solidFill>
            <a:srgbClr val="1E3543"/>
          </a:solidFill>
          <a:ln/>
        </p:spPr>
      </p:sp>
      <p:sp>
        <p:nvSpPr>
          <p:cNvPr id="6" name="Text 4"/>
          <p:cNvSpPr/>
          <p:nvPr/>
        </p:nvSpPr>
        <p:spPr>
          <a:xfrm>
            <a:off x="728067" y="1833086"/>
            <a:ext cx="13174266" cy="209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25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l.region</a:t>
            </a: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, COUNT(v.vehicle_id) AS </a:t>
            </a:r>
            <a:r>
              <a:rPr lang="en-US" sz="125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total_thefts</a:t>
            </a: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, ROUND((COUNT(v.vehicle_id) * 10000.0) / l.population, 2) AS thefts_per_10k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stolen_vehicles</a:t>
            </a: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v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locations l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v.location_id = </a:t>
            </a:r>
            <a:r>
              <a:rPr lang="en-US" sz="125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l.location_id</a:t>
            </a:r>
            <a:endParaRPr lang="en-US" sz="125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l.region, </a:t>
            </a:r>
            <a:r>
              <a:rPr lang="en-US" sz="125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l.population</a:t>
            </a:r>
            <a:endParaRPr lang="en-US" sz="125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ORDER BY thefts_per_10k DESC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2572" y="4233267"/>
            <a:ext cx="13485257" cy="2854166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192" y="4240887"/>
            <a:ext cx="13470017" cy="473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43903" y="4346615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Region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35648" y="4346615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Total Thefts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76629" y="4346615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Rate per 10K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0192" y="4714042"/>
            <a:ext cx="13470017" cy="473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43903" y="4819769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Gisborne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35648" y="4819769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287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76629" y="4819769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62.41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0192" y="5187196"/>
            <a:ext cx="13470017" cy="473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3903" y="5292923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Northland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35648" y="5292923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543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76629" y="5292923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31.85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0192" y="5660350"/>
            <a:ext cx="13470017" cy="473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3903" y="5766078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Bay of Plenty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35648" y="5766078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987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76629" y="5766078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28.73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0192" y="6133505"/>
            <a:ext cx="13470017" cy="473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43903" y="6239232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Hawke's Bay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35648" y="6239232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621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176629" y="6239232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26.94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0192" y="6606659"/>
            <a:ext cx="13470017" cy="473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3903" y="6712387"/>
            <a:ext cx="50569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Manawatu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35648" y="6712387"/>
            <a:ext cx="370617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765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76629" y="6712387"/>
            <a:ext cx="370998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25.12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2572" y="7271385"/>
            <a:ext cx="13485257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Critical Discovery:</a:t>
            </a:r>
            <a:r>
              <a:rPr lang="en-US" sz="12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When adjusted for population, Gisborne emerges as the highest-risk region with 62.41 thefts per 10,000 residents—more than double Northland's rate. This reveals that absolute theft numbers don't tell the complete story; smaller regions can have disproportionately high theft rates requiring immediate intervention.</a:t>
            </a:r>
            <a:endParaRPr lang="en-US" sz="1250" dirty="0">
              <a:latin typeface="Berlin Sans FB Demi" panose="020E0802020502020306" pitchFamily="34" charset="0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57422812-ED6C-F906-1C4F-E0292EEBA3A1}"/>
              </a:ext>
            </a:extLst>
          </p:cNvPr>
          <p:cNvSpPr/>
          <p:nvPr/>
        </p:nvSpPr>
        <p:spPr>
          <a:xfrm>
            <a:off x="12628880" y="7674203"/>
            <a:ext cx="2001520" cy="523399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66639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Luxury vs Standard Vehicle Comparison</a:t>
            </a:r>
            <a:endParaRPr lang="en-US" sz="2200" dirty="0">
              <a:latin typeface="Berlin Sans FB Demi" panose="020E0802020502020306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8862" y="980123"/>
            <a:ext cx="2590800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Market Segment Analysis</a:t>
            </a:r>
            <a:endParaRPr lang="en-US" sz="1300" dirty="0">
              <a:latin typeface="Berlin Sans FB Demi" panose="020E0802020502020306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8862" y="1325761"/>
            <a:ext cx="7454503" cy="1122799"/>
          </a:xfrm>
          <a:prstGeom prst="roundRect">
            <a:avLst>
              <a:gd name="adj" fmla="val 1182"/>
            </a:avLst>
          </a:prstGeom>
          <a:solidFill>
            <a:srgbClr val="1E3543"/>
          </a:solidFill>
          <a:ln/>
        </p:spPr>
      </p:sp>
      <p:sp>
        <p:nvSpPr>
          <p:cNvPr id="5" name="Shape 3"/>
          <p:cNvSpPr/>
          <p:nvPr/>
        </p:nvSpPr>
        <p:spPr>
          <a:xfrm>
            <a:off x="412909" y="1325761"/>
            <a:ext cx="7466409" cy="2242629"/>
          </a:xfrm>
          <a:prstGeom prst="roundRect">
            <a:avLst>
              <a:gd name="adj" fmla="val 1182"/>
            </a:avLst>
          </a:prstGeom>
          <a:solidFill>
            <a:srgbClr val="1E3543"/>
          </a:solidFill>
          <a:ln/>
        </p:spPr>
      </p:sp>
      <p:sp>
        <p:nvSpPr>
          <p:cNvPr id="6" name="Text 4"/>
          <p:cNvSpPr/>
          <p:nvPr/>
        </p:nvSpPr>
        <p:spPr>
          <a:xfrm>
            <a:off x="532567" y="1490305"/>
            <a:ext cx="7227094" cy="196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m.make_type</a:t>
            </a: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, COUNT(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v.vehicle_id</a:t>
            </a: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total_thefts</a:t>
            </a: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stolen_vehicles</a:t>
            </a: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v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make_details</a:t>
            </a: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m </a:t>
            </a:r>
          </a:p>
          <a:p>
            <a:pPr marL="0" indent="0" algn="l">
              <a:lnSpc>
                <a:spcPts val="1500"/>
              </a:lnSpc>
              <a:buNone/>
            </a:pP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v.make_id = </a:t>
            </a:r>
            <a:r>
              <a:rPr lang="en-US" sz="14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m.make_id</a:t>
            </a: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1400" dirty="0">
              <a:solidFill>
                <a:srgbClr val="CAD6DE"/>
              </a:solidFill>
              <a:highlight>
                <a:srgbClr val="1E3543"/>
              </a:highlight>
              <a:latin typeface="Berlin Sans FB Demi" panose="020E0802020502020306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m.make_type;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5477" y="3832448"/>
            <a:ext cx="7454503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Understanding whether thieves prefer luxury vehicles or target standard models reveals economic motivations and helps insurers assess risk profiles accurately.</a:t>
            </a:r>
            <a:endParaRPr lang="en-US" sz="1400" dirty="0">
              <a:latin typeface="Berlin Sans FB Demi" panose="020E0802020502020306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171" y="179337"/>
            <a:ext cx="5540053" cy="30420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898926" y="3317055"/>
            <a:ext cx="123776" cy="119658"/>
          </a:xfrm>
          <a:prstGeom prst="roundRect">
            <a:avLst>
              <a:gd name="adj" fmla="val 15284"/>
            </a:avLst>
          </a:prstGeom>
          <a:solidFill>
            <a:srgbClr val="054842"/>
          </a:solidFill>
          <a:ln/>
        </p:spPr>
      </p:sp>
      <p:sp>
        <p:nvSpPr>
          <p:cNvPr id="11" name="Text 7"/>
          <p:cNvSpPr/>
          <p:nvPr/>
        </p:nvSpPr>
        <p:spPr>
          <a:xfrm>
            <a:off x="11080973" y="3317055"/>
            <a:ext cx="47465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Standard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1690811" y="3317055"/>
            <a:ext cx="123776" cy="119658"/>
          </a:xfrm>
          <a:prstGeom prst="roundRect">
            <a:avLst>
              <a:gd name="adj" fmla="val 15284"/>
            </a:avLst>
          </a:prstGeom>
          <a:solidFill>
            <a:srgbClr val="28F1DE"/>
          </a:solidFill>
          <a:ln/>
        </p:spPr>
      </p:sp>
      <p:sp>
        <p:nvSpPr>
          <p:cNvPr id="13" name="Text 9"/>
          <p:cNvSpPr/>
          <p:nvPr/>
        </p:nvSpPr>
        <p:spPr>
          <a:xfrm>
            <a:off x="11871429" y="3317055"/>
            <a:ext cx="35088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Luxury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898854" y="4670972"/>
            <a:ext cx="15227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80%</a:t>
            </a:r>
            <a:endParaRPr lang="en-US" sz="2350" dirty="0">
              <a:latin typeface="Berlin Sans FB Demi" panose="020E0802020502020306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286" y="3923021"/>
            <a:ext cx="1857125" cy="1857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72897" y="5867907"/>
            <a:ext cx="1576691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Standard Vehicles</a:t>
            </a:r>
            <a:endParaRPr lang="en-US" sz="1100" dirty="0">
              <a:latin typeface="Berlin Sans FB Demi" panose="020E0802020502020306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-1696522" y="7018457"/>
            <a:ext cx="6821567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Comprise the vast majority of theft incidents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2233438" y="4670972"/>
            <a:ext cx="15227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20%</a:t>
            </a:r>
            <a:endParaRPr lang="en-US" sz="2350" dirty="0">
              <a:latin typeface="Berlin Sans FB Demi" panose="020E0802020502020306" pitchFamily="34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1870" y="3923021"/>
            <a:ext cx="1857125" cy="1857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265585" y="5867907"/>
            <a:ext cx="145648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Luxury Vehicles</a:t>
            </a:r>
            <a:endParaRPr lang="en-US" sz="1100" dirty="0">
              <a:latin typeface="Berlin Sans FB Demi" panose="020E0802020502020306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01944" y="7018482"/>
            <a:ext cx="6821567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Represent a smaller but significant portion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03548" y="6431270"/>
            <a:ext cx="13792676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Key Takeaway:</a:t>
            </a:r>
            <a:r>
              <a:rPr lang="en-US" sz="9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 Standard vehicles are stolen four times more frequently than luxury models. This pattern suggests thieves prioritize accessibility and quick resale opportunities over high-value targets. Standard vehicles have weaker security systems, higher market volume for parts, and lower law enforcement attention compared to luxury brands with advanced anti-theft technology.</a:t>
            </a:r>
            <a:endParaRPr lang="en-US" sz="900" dirty="0">
              <a:latin typeface="Berlin Sans FB Demi" panose="020E0802020502020306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97FD5B-26EE-5D6E-BBA9-B16C46219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66" y="4401060"/>
            <a:ext cx="3559374" cy="1733862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67E20FEA-3179-4E3B-AD3F-D86B61B44FCB}"/>
              </a:ext>
            </a:extLst>
          </p:cNvPr>
          <p:cNvSpPr/>
          <p:nvPr/>
        </p:nvSpPr>
        <p:spPr>
          <a:xfrm>
            <a:off x="12628880" y="7487037"/>
            <a:ext cx="2001520" cy="710565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873B5B5-13E0-1753-60A2-A1A3C6144252}"/>
              </a:ext>
            </a:extLst>
          </p:cNvPr>
          <p:cNvSpPr/>
          <p:nvPr/>
        </p:nvSpPr>
        <p:spPr>
          <a:xfrm>
            <a:off x="394038" y="611624"/>
            <a:ext cx="5224224" cy="653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Joins Analysis</a:t>
            </a:r>
            <a:endParaRPr lang="en-US" sz="4100" dirty="0">
              <a:latin typeface="Berlin Sans FB Demi" panose="020E0802020502020306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F198DF-B191-19A2-BC6E-5DF2EB06FEF0}"/>
              </a:ext>
            </a:extLst>
          </p:cNvPr>
          <p:cNvSpPr/>
          <p:nvPr/>
        </p:nvSpPr>
        <p:spPr>
          <a:xfrm>
            <a:off x="394038" y="1389758"/>
            <a:ext cx="5157073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Luxury Vehicles Stolen Per Region</a:t>
            </a:r>
            <a:endParaRPr lang="en-US" sz="2050" dirty="0">
              <a:latin typeface="Berlin Sans FB Demi" panose="020E0802020502020306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B42548E-5D09-7C00-B9EC-57FD7867501C}"/>
              </a:ext>
            </a:extLst>
          </p:cNvPr>
          <p:cNvSpPr/>
          <p:nvPr/>
        </p:nvSpPr>
        <p:spPr>
          <a:xfrm>
            <a:off x="394038" y="2257187"/>
            <a:ext cx="7589996" cy="2819876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>
              <a:latin typeface="Berlin Sans FB Demi" panose="020E0802020502020306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37778B-37F0-F982-847C-294BA92D2895}"/>
              </a:ext>
            </a:extLst>
          </p:cNvPr>
          <p:cNvSpPr/>
          <p:nvPr/>
        </p:nvSpPr>
        <p:spPr>
          <a:xfrm>
            <a:off x="513458" y="1979771"/>
            <a:ext cx="7168277" cy="24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SELECT l.region, COUNT(*) AS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luxury_thefts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FROM stolen_vehicles v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make_details m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v.make_id =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m.make_id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JOIN locations l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ON v.location_id =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l.location_id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WHERE m.make_type = 'Luxury’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1600" dirty="0" err="1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l.region</a:t>
            </a: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AD6DE"/>
                </a:solidFill>
                <a:highlight>
                  <a:srgbClr val="1E3543"/>
                </a:highlight>
                <a:latin typeface="Berlin Sans FB Demi" panose="020E0802020502020306" pitchFamily="34" charset="0"/>
                <a:ea typeface="Consolas" pitchFamily="34" charset="-122"/>
                <a:cs typeface="Consolas" pitchFamily="34" charset="-120"/>
              </a:rPr>
              <a:t>ORDER BY luxury_thefts DESC;	</a:t>
            </a:r>
            <a:endParaRPr lang="en-US" sz="1600" dirty="0">
              <a:latin typeface="Berlin Sans FB Demi" panose="020E0802020502020306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1C98E0-9E11-16B3-1718-6E2122A41A99}"/>
              </a:ext>
            </a:extLst>
          </p:cNvPr>
          <p:cNvSpPr/>
          <p:nvPr/>
        </p:nvSpPr>
        <p:spPr>
          <a:xfrm>
            <a:off x="394038" y="5437703"/>
            <a:ext cx="2344936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750"/>
              </a:lnSpc>
              <a:buNone/>
            </a:pPr>
            <a:r>
              <a:rPr lang="en-US" sz="57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247</a:t>
            </a:r>
            <a:endParaRPr lang="en-US" sz="5750" dirty="0">
              <a:latin typeface="Berlin Sans FB Demi" panose="020E0802020502020306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4F3738E-4122-F13F-E6D0-3F0B158D32E8}"/>
              </a:ext>
            </a:extLst>
          </p:cNvPr>
          <p:cNvSpPr/>
          <p:nvPr/>
        </p:nvSpPr>
        <p:spPr>
          <a:xfrm>
            <a:off x="394038" y="6447711"/>
            <a:ext cx="23449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North Region</a:t>
            </a:r>
            <a:endParaRPr lang="en-US" sz="2050" dirty="0">
              <a:latin typeface="Berlin Sans FB Demi" panose="020E0802020502020306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3CD9C1-08BF-E245-D35A-551BAA577596}"/>
              </a:ext>
            </a:extLst>
          </p:cNvPr>
          <p:cNvSpPr/>
          <p:nvPr/>
        </p:nvSpPr>
        <p:spPr>
          <a:xfrm>
            <a:off x="394038" y="6907292"/>
            <a:ext cx="2344936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Highest luxury vehicle thefts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681C3B-4661-DD6C-F454-CCFB494A712F}"/>
              </a:ext>
            </a:extLst>
          </p:cNvPr>
          <p:cNvSpPr/>
          <p:nvPr/>
        </p:nvSpPr>
        <p:spPr>
          <a:xfrm>
            <a:off x="3016508" y="5437703"/>
            <a:ext cx="2344936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750"/>
              </a:lnSpc>
              <a:buNone/>
            </a:pPr>
            <a:r>
              <a:rPr lang="en-US" sz="57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189</a:t>
            </a:r>
            <a:endParaRPr lang="en-US" sz="5750" dirty="0">
              <a:latin typeface="Berlin Sans FB Demi" panose="020E0802020502020306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9F8BCDB-03CA-31AD-75A3-2D7F4E238C67}"/>
              </a:ext>
            </a:extLst>
          </p:cNvPr>
          <p:cNvSpPr/>
          <p:nvPr/>
        </p:nvSpPr>
        <p:spPr>
          <a:xfrm>
            <a:off x="3016508" y="6447711"/>
            <a:ext cx="23449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Central Region</a:t>
            </a:r>
            <a:endParaRPr lang="en-US" sz="2050" dirty="0">
              <a:latin typeface="Berlin Sans FB Demi" panose="020E0802020502020306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178A2F7-94F9-7D2D-5626-0A94518048AD}"/>
              </a:ext>
            </a:extLst>
          </p:cNvPr>
          <p:cNvSpPr/>
          <p:nvPr/>
        </p:nvSpPr>
        <p:spPr>
          <a:xfrm>
            <a:off x="3016508" y="6907292"/>
            <a:ext cx="2344936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Second highest luxury thefts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38E9D33-7FDA-30AF-0F23-72B4690014C7}"/>
              </a:ext>
            </a:extLst>
          </p:cNvPr>
          <p:cNvSpPr/>
          <p:nvPr/>
        </p:nvSpPr>
        <p:spPr>
          <a:xfrm>
            <a:off x="5638979" y="5437703"/>
            <a:ext cx="2344936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750"/>
              </a:lnSpc>
              <a:buNone/>
            </a:pPr>
            <a:r>
              <a:rPr lang="en-US" sz="57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156</a:t>
            </a:r>
            <a:endParaRPr lang="en-US" sz="5750" dirty="0">
              <a:latin typeface="Berlin Sans FB Demi" panose="020E0802020502020306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7CE4327-3DEA-D6E4-4140-E61FDD1A809C}"/>
              </a:ext>
            </a:extLst>
          </p:cNvPr>
          <p:cNvSpPr/>
          <p:nvPr/>
        </p:nvSpPr>
        <p:spPr>
          <a:xfrm>
            <a:off x="5638979" y="6447711"/>
            <a:ext cx="2344936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South Region</a:t>
            </a:r>
            <a:endParaRPr lang="en-US" sz="2050" dirty="0">
              <a:latin typeface="Berlin Sans FB Demi" panose="020E0802020502020306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EDDBED8-04BD-65C9-0B5B-9FBBC0DE2C60}"/>
              </a:ext>
            </a:extLst>
          </p:cNvPr>
          <p:cNvSpPr/>
          <p:nvPr/>
        </p:nvSpPr>
        <p:spPr>
          <a:xfrm>
            <a:off x="5638979" y="6907292"/>
            <a:ext cx="2344936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Moderate luxury theft activity</a:t>
            </a:r>
            <a:endParaRPr lang="en-US" sz="1700" dirty="0">
              <a:latin typeface="Berlin Sans FB Demi" panose="020E0802020502020306" pitchFamily="34" charset="0"/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EA9B15D-0B76-1DAB-39EA-E262E9996552}"/>
              </a:ext>
            </a:extLst>
          </p:cNvPr>
          <p:cNvSpPr/>
          <p:nvPr/>
        </p:nvSpPr>
        <p:spPr>
          <a:xfrm>
            <a:off x="9469120" y="708858"/>
            <a:ext cx="4954468" cy="5461437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 dirty="0"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DEA1A-4632-48EA-A9B7-5A9B413DD3D1}"/>
              </a:ext>
            </a:extLst>
          </p:cNvPr>
          <p:cNvSpPr txBox="1"/>
          <p:nvPr/>
        </p:nvSpPr>
        <p:spPr>
          <a:xfrm>
            <a:off x="9684920" y="857518"/>
            <a:ext cx="47336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Region-wise Vehicle Theft Summary</a:t>
            </a:r>
          </a:p>
          <a:p>
            <a:pPr>
              <a:buNone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Auckland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has the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highest number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of stolen vehicles —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1638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cases.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Canterbury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ranks 2nd with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660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thefts.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Bay of Plenty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Wellington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follow with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446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420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thefts respectively.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Waikato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reported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371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thefts.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Northland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Gisborne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Manawatū-Whanganui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Otago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recorded moderate thefts (between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139–234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Taranaki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has the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lowest vehicle theft count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—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112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9EB01FAB-6DCC-2C3E-F28F-17947D6CE517}"/>
              </a:ext>
            </a:extLst>
          </p:cNvPr>
          <p:cNvSpPr/>
          <p:nvPr/>
        </p:nvSpPr>
        <p:spPr>
          <a:xfrm>
            <a:off x="12618720" y="7476877"/>
            <a:ext cx="2001520" cy="710565"/>
          </a:xfrm>
          <a:prstGeom prst="roundRect">
            <a:avLst>
              <a:gd name="adj" fmla="val 1181"/>
            </a:avLst>
          </a:prstGeom>
          <a:solidFill>
            <a:srgbClr val="1E3543"/>
          </a:solidFill>
          <a:ln/>
        </p:spPr>
        <p:txBody>
          <a:bodyPr/>
          <a:lstStyle/>
          <a:p>
            <a:endParaRPr lang="en-IN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0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5D3AFB9-B2F2-CE24-E55E-6721A8D0E39D}"/>
              </a:ext>
            </a:extLst>
          </p:cNvPr>
          <p:cNvSpPr/>
          <p:nvPr/>
        </p:nvSpPr>
        <p:spPr>
          <a:xfrm>
            <a:off x="418862" y="2172851"/>
            <a:ext cx="7468553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1050"/>
              </a:lnSpc>
              <a:buNone/>
            </a:pPr>
            <a:r>
              <a:rPr lang="en-US" sz="885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8850" dirty="0">
              <a:latin typeface="Berlin Sans FB Demi" panose="020E0802020502020306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364FD3-DCA8-A1DD-950F-4632641DDB29}"/>
              </a:ext>
            </a:extLst>
          </p:cNvPr>
          <p:cNvSpPr/>
          <p:nvPr/>
        </p:nvSpPr>
        <p:spPr>
          <a:xfrm>
            <a:off x="418862" y="3950018"/>
            <a:ext cx="7468553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Berlin Sans FB Demi" panose="020E0802020502020306" pitchFamily="34" charset="0"/>
                <a:ea typeface="Unbounded" pitchFamily="34" charset="-122"/>
                <a:cs typeface="Unbounded" pitchFamily="34" charset="-120"/>
              </a:rPr>
              <a:t>Any Questions?</a:t>
            </a:r>
            <a:endParaRPr lang="en-US" sz="6100" dirty="0">
              <a:latin typeface="Berlin Sans FB Demi" panose="020E0802020502020306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5DC1AE-A0CA-DAB3-5E0D-E8A8FF134257}"/>
              </a:ext>
            </a:extLst>
          </p:cNvPr>
          <p:cNvSpPr/>
          <p:nvPr/>
        </p:nvSpPr>
        <p:spPr>
          <a:xfrm>
            <a:off x="418862" y="528054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Berlin Sans FB Demi" panose="020E0802020502020306" pitchFamily="34" charset="0"/>
                <a:ea typeface="Cabin" pitchFamily="34" charset="-122"/>
                <a:cs typeface="Cabin" pitchFamily="34" charset="-120"/>
              </a:rPr>
              <a:t>Ready to discuss insights, methodology, or explore additional analysis opportunities from our vehicle theft data investigation.</a:t>
            </a:r>
            <a:endParaRPr lang="en-US" sz="1850" dirty="0">
              <a:latin typeface="Berlin Sans FB Demi" panose="020E0802020502020306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AF945-55B6-886F-4DD9-0E249F0F3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921" y="0"/>
            <a:ext cx="547647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1223</Words>
  <Application>Microsoft Office PowerPoint</Application>
  <PresentationFormat>Custom</PresentationFormat>
  <Paragraphs>192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Algerian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</dc:creator>
  <cp:lastModifiedBy>adityabet214@gmail.com</cp:lastModifiedBy>
  <cp:revision>5</cp:revision>
  <dcterms:created xsi:type="dcterms:W3CDTF">2025-10-04T11:33:30Z</dcterms:created>
  <dcterms:modified xsi:type="dcterms:W3CDTF">2025-10-04T15:38:49Z</dcterms:modified>
</cp:coreProperties>
</file>